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73152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developer request</a:t>
            </a:r>
          </a:p>
        </p:txBody>
      </p:sp>
      <p:sp>
        <p:nvSpPr>
          <p:cNvPr id="5" name="Down Arrow 4"/>
          <p:cNvSpPr/>
          <p:nvPr/>
        </p:nvSpPr>
        <p:spPr>
          <a:xfrm>
            <a:off x="4059935" y="1856231"/>
            <a:ext cx="201168" cy="182880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084832"/>
            <a:ext cx="731520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Coding agent (OpenCode / any MCP host)  +  AGENTS.md  — the “gate”</a:t>
            </a:r>
          </a:p>
          <a:p>
            <a:r>
              <a:rPr sz="1050">
                <a:solidFill>
                  <a:srgbClr val="94A3B8"/>
                </a:solidFill>
                <a:latin typeface="Arial"/>
              </a:rPr>
              <a:t>1. sensitive signal?  (intent / filename / schema keywords)</a:t>
            </a:r>
          </a:p>
        </p:txBody>
      </p:sp>
      <p:sp>
        <p:nvSpPr>
          <p:cNvPr id="7" name="Down Arrow 6"/>
          <p:cNvSpPr/>
          <p:nvPr/>
        </p:nvSpPr>
        <p:spPr>
          <a:xfrm>
            <a:off x="4059935" y="2825496"/>
            <a:ext cx="201168" cy="182880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3054096"/>
            <a:ext cx="731520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GATE (prompt-enforced):  don’t code yet · present ≥2 options + tradeoffs ·
cite EU AI Act ref verbatim · WAIT for human</a:t>
            </a:r>
          </a:p>
          <a:p>
            <a:r>
              <a:rPr sz="1050">
                <a:solidFill>
                  <a:srgbClr val="94A3B8"/>
                </a:solidFill>
                <a:latin typeface="Arial"/>
              </a:rPr>
              <a:t>2. human chooses</a:t>
            </a:r>
          </a:p>
        </p:txBody>
      </p:sp>
      <p:sp>
        <p:nvSpPr>
          <p:cNvPr id="9" name="Down Arrow 8"/>
          <p:cNvSpPr/>
          <p:nvPr/>
        </p:nvSpPr>
        <p:spPr>
          <a:xfrm>
            <a:off x="4059935" y="3922776"/>
            <a:ext cx="201168" cy="182880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4151376"/>
            <a:ext cx="7315200" cy="603504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MCP tool  log_decision(…)   →   compliance-auditor (deterministic Python)</a:t>
            </a:r>
          </a:p>
          <a:p>
            <a:r>
              <a:rPr sz="1050">
                <a:solidFill>
                  <a:srgbClr val="94A3B8"/>
                </a:solidFill>
                <a:latin typeface="Arial"/>
              </a:rPr>
              <a:t>3. append-only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059935" y="4782312"/>
            <a:ext cx="201168" cy="182880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5010912"/>
            <a:ext cx="7315200" cy="7498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audit-trail/decisions.jsonl   —   SHA-256 hash chain
seq N: { …, prev_hash, hash = sha256(canonical(record))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1558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0B981"/>
                </a:solidFill>
                <a:latin typeface="Arial"/>
              </a:rPr>
              <a:t>├▶ verify_audit_trail()      └▶ generate_compliance_report()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63840" y="4197096"/>
            <a:ext cx="1051560" cy="512064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74573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Arial"/>
              </a:rPr>
              <a:t>use 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3218688"/>
            <a:ext cx="2834640" cy="2468880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Child-safety chatbot</a:t>
            </a:r>
          </a:p>
          <a:p>
            <a:pPr algn="l"/>
            <a:r>
              <a:rPr sz="1400" b="1">
                <a:solidFill>
                  <a:srgbClr val="2563EB"/>
                </a:solidFill>
                <a:latin typeface="Arial"/>
              </a:rPr>
              <a:t>a use case of the above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grooming · bullying · abuse ·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self-harm · suicidal · distress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Arial"/>
              </a:rPr>
              <a:t>→ same gate, same hash 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