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822960" cy="82296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566928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SSGCheck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3268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4A3B8"/>
                </a:solidFill>
                <a:latin typeface="Arial"/>
              </a:rPr>
              <a:t>non-repudiable oversight for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FFFFFF"/>
                </a:solidFill>
                <a:latin typeface="Arial"/>
              </a:rPr>
              <a:t>A Child-Safety Chatbot</a:t>
            </a:r>
          </a:p>
          <a:p>
            <a:pPr algn="l">
              <a:lnSpc>
                <a:spcPct val="105000"/>
              </a:lnSpc>
            </a:pPr>
            <a:r>
              <a:rPr sz="3000" b="1">
                <a:solidFill>
                  <a:srgbClr val="2563EB"/>
                </a:solidFill>
                <a:latin typeface="Arial"/>
              </a:rPr>
              <a:t>as a use case of a compliance-auditor coding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4A3B8"/>
                </a:solidFill>
                <a:latin typeface="Arial"/>
              </a:rPr>
              <a:t>Same spine — panel of judges → threshold → human-in-the-loop → tamper-evident hash chain — pointed at children’s conversations instead of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06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4A3B8"/>
                </a:solidFill>
                <a:latin typeface="Arial"/>
              </a:rPr>
              <a:t>Team   </a:t>
            </a:r>
            <a:r>
              <a:rPr sz="1400" b="1">
                <a:solidFill>
                  <a:srgbClr val="E2E8F0"/>
                </a:solidFill>
                <a:latin typeface="Arial"/>
              </a:rPr>
              <a:t>Elaine · Grace · Wilson · Ethan · Jeremy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Arial"/>
              </a:rPr>
              <a:t>Jeremy  </a:t>
            </a:r>
            <a:r>
              <a:rPr sz="1400" b="0">
                <a:solidFill>
                  <a:srgbClr val="94A3B8"/>
                </a:solidFill>
                <a:latin typeface="Arial"/>
              </a:rPr>
              <a:t>·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Child-safety chatbot = a use case of the 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4A3B8"/>
                </a:solidFill>
                <a:latin typeface="Arial"/>
              </a:rPr>
              <a:t>Left: the governance spine.  Right: the same spine instantiated for conversations.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Arial"/>
              </a:rPr>
              <a:t>THE CODING AGENT (governance spine)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52120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Developer request → Coding agent + AGENTS.md</a:t>
            </a:r>
          </a:p>
          <a:p>
            <a:r>
              <a:rPr sz="1000">
                <a:solidFill>
                  <a:srgbClr val="94A3B8"/>
                </a:solidFill>
                <a:latin typeface="Arial"/>
              </a:rPr>
              <a:t>the “gate”</a:t>
            </a:r>
          </a:p>
        </p:txBody>
      </p:sp>
      <p:sp>
        <p:nvSpPr>
          <p:cNvPr id="8" name="Down Arrow 7"/>
          <p:cNvSpPr/>
          <p:nvPr/>
        </p:nvSpPr>
        <p:spPr>
          <a:xfrm>
            <a:off x="2999232" y="2798064"/>
            <a:ext cx="219456" cy="182880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3044952"/>
            <a:ext cx="52120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GATE: don’t code yet · ≥2 options + tradeoffs ·
cite EU AI Act verbatim · WAIT for human</a:t>
            </a:r>
          </a:p>
          <a:p>
            <a:r>
              <a:rPr sz="1000">
                <a:solidFill>
                  <a:srgbClr val="94A3B8"/>
                </a:solidFill>
                <a:latin typeface="Arial"/>
              </a:rPr>
              <a:t>prompt-enforced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999232" y="3922776"/>
            <a:ext cx="219456" cy="182880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4169664"/>
            <a:ext cx="5212080" cy="566928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MCP tool  log_decision(…)</a:t>
            </a:r>
          </a:p>
          <a:p>
            <a:r>
              <a:rPr sz="1000">
                <a:solidFill>
                  <a:srgbClr val="94A3B8"/>
                </a:solidFill>
                <a:latin typeface="Arial"/>
              </a:rPr>
              <a:t>deterministic Python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999232" y="4745736"/>
            <a:ext cx="219456" cy="182880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4992624"/>
            <a:ext cx="52120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audit-trail/decisions.jsonl  —  SHA-256 hash chain</a:t>
            </a:r>
          </a:p>
          <a:p>
            <a:r>
              <a:rPr sz="1000">
                <a:solidFill>
                  <a:srgbClr val="94A3B8"/>
                </a:solidFill>
                <a:latin typeface="Arial"/>
              </a:rPr>
              <a:t>append-only, verifiable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70448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0B981"/>
                </a:solidFill>
                <a:latin typeface="Arial"/>
              </a:rPr>
              <a:t>└▶ verify_audit_trail()    └▶ generate_compliance_report()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33288" y="3611880"/>
            <a:ext cx="960120" cy="45720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4114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2563EB"/>
                </a:solidFill>
                <a:latin typeface="Arial"/>
              </a:rPr>
              <a:t>same log,
new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7373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F4444"/>
                </a:solidFill>
                <a:latin typeface="Arial"/>
              </a:rPr>
              <a:t>THE CHILD-SAFETY CHATBOT (detection)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2148840"/>
            <a:ext cx="484632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Child / Adult conversation turns</a:t>
            </a:r>
          </a:p>
          <a:p>
            <a:r>
              <a:rPr sz="1000">
                <a:solidFill>
                  <a:srgbClr val="94A3B8"/>
                </a:solidFill>
                <a:latin typeface="Arial"/>
              </a:rPr>
              <a:t>input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9171432" y="2724912"/>
            <a:ext cx="219456" cy="164592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0" y="2953512"/>
            <a:ext cx="48463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3-LLM risk panel  (DeepSeek · OpenAI · Gemini)
score 6 categories 0–1</a:t>
            </a:r>
          </a:p>
          <a:p>
            <a:r>
              <a:rPr sz="1000">
                <a:solidFill>
                  <a:srgbClr val="94A3B8"/>
                </a:solidFill>
                <a:latin typeface="Arial"/>
              </a:rPr>
              <a:t>ensemble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171432" y="3739896"/>
            <a:ext cx="219456" cy="164592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0" y="3968496"/>
            <a:ext cx="4846320" cy="548640"/>
          </a:xfrm>
          <a:prstGeom prst="roundRect">
            <a:avLst/>
          </a:prstGeom>
          <a:solidFill>
            <a:srgbClr val="7F1D1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aggregate ≥ threshold ?  →  ALARM</a:t>
            </a:r>
          </a:p>
          <a:p>
            <a:r>
              <a:rPr sz="1000">
                <a:solidFill>
                  <a:srgbClr val="94A3B8"/>
                </a:solidFill>
                <a:latin typeface="Arial"/>
              </a:rPr>
              <a:t>policy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9171432" y="4526280"/>
            <a:ext cx="219456" cy="164592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4754880"/>
            <a:ext cx="4846320" cy="73152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ESCALATE to human monitor  →  log_decision(domain=“child-safety”)</a:t>
            </a:r>
          </a:p>
          <a:p>
            <a:r>
              <a:rPr sz="1000">
                <a:solidFill>
                  <a:srgbClr val="94A3B8"/>
                </a:solidFill>
                <a:latin typeface="Arial"/>
              </a:rPr>
              <a:t>same hash chain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5769864"/>
            <a:ext cx="1152144" cy="310896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grooming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1" y="5769864"/>
            <a:ext cx="1152144" cy="310896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bullying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81743" y="5769864"/>
            <a:ext cx="1152144" cy="310896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suicidal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6190488"/>
            <a:ext cx="1257300" cy="310896"/>
          </a:xfrm>
          <a:prstGeom prst="round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self-harm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5028" y="6190488"/>
            <a:ext cx="626364" cy="310896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PII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6190488"/>
            <a:ext cx="1152144" cy="310896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distress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Arial"/>
              </a:rPr>
              <a:t>Elaine  </a:t>
            </a:r>
            <a:r>
              <a:rPr sz="1400" b="0">
                <a:solidFill>
                  <a:srgbClr val="94A3B8"/>
                </a:solidFill>
                <a:latin typeface="Arial"/>
              </a:rPr>
              <a:t>·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Why a child-safety chatbot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4A3B8"/>
                </a:solidFill>
                <a:latin typeface="Arial"/>
              </a:rPr>
              <a:t>Conversations with minors carry risks that are invisible to keyword filters — we label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Arial"/>
              </a:rPr>
              <a:t>UNSAFE MESSAGES, LABELED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589788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167127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2E8F0"/>
                </a:solidFill>
                <a:latin typeface="Arial"/>
              </a:rPr>
              <a:t>“you seem so mature for 12 — don’t tell your mom we talk, it’s our secret 😊”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496312"/>
            <a:ext cx="1188720" cy="310896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grooming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2536" y="2523744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Arial"/>
              </a:rPr>
              <a:t>secrecy request + age + flattery: classic grooming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89503"/>
            <a:ext cx="589788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953511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2E8F0"/>
                </a:solidFill>
                <a:latin typeface="Arial"/>
              </a:rPr>
              <a:t>“nobody in this group chat even likes you, just log off forever loser”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3282696"/>
            <a:ext cx="1188720" cy="310896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bullying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02536" y="3310127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Arial"/>
              </a:rPr>
              <a:t>targeted humiliation and exclusion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75887"/>
            <a:ext cx="589788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739896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2E8F0"/>
                </a:solidFill>
                <a:latin typeface="Arial"/>
              </a:rPr>
              <a:t>“honestly I don’t see the point of waking up tomorrow anymore”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" y="4069079"/>
            <a:ext cx="1188720" cy="310896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suicidal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2536" y="4096511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Arial"/>
              </a:rPr>
              <a:t>passive suicidal ideation — highest priority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462272"/>
            <a:ext cx="589788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452628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2E8F0"/>
                </a:solidFill>
                <a:latin typeface="Arial"/>
              </a:rPr>
              <a:t>“I keep a blade in my drawer for when the bad days get too loud”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4855464"/>
            <a:ext cx="1298448" cy="310896"/>
          </a:xfrm>
          <a:prstGeom prst="round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self-harm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12264" y="4882896"/>
            <a:ext cx="405079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Arial"/>
              </a:rPr>
              <a:t>reference to means + intent for self-injury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48656"/>
            <a:ext cx="589788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5312664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2E8F0"/>
                </a:solidFill>
                <a:latin typeface="Arial"/>
              </a:rPr>
              <a:t>“here’s my address, 14 Maple St, and mom’s gone till 6”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5641848"/>
            <a:ext cx="640080" cy="310896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5669280"/>
            <a:ext cx="4709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Arial"/>
              </a:rPr>
              <a:t>minor discloses home address + unsupervised window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6035040"/>
            <a:ext cx="589788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6099048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2E8F0"/>
                </a:solidFill>
                <a:latin typeface="Arial"/>
              </a:rPr>
              <a:t>“i can’t stop shaking and crying, everything’s falling apart”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" y="6428232"/>
            <a:ext cx="1188720" cy="310896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distress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02536" y="6455664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Arial"/>
              </a:rPr>
              <a:t>acute distress without explicit self-harm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17830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F4444"/>
                </a:solidFill>
                <a:latin typeface="Arial"/>
              </a:rPr>
              <a:t>WHY NOW — SCALE &amp; REGULATION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2240280"/>
            <a:ext cx="109728" cy="10972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22592" y="2185416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E8F0"/>
                </a:solidFill>
                <a:latin typeface="Arial"/>
              </a:rPr>
              <a:t>36.2M+ CyberTipline reports in 2023 (&gt;100M files)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NCMEC 2023 CyberTipline Report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0" y="3108960"/>
            <a:ext cx="109728" cy="10972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22592" y="3054096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E8F0"/>
                </a:solidFill>
                <a:latin typeface="Arial"/>
              </a:rPr>
              <a:t>UK Online Safety Act 2023 — duty of care; fines up to 10% of global turnover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UK legislation, in force 2023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66560" y="3977640"/>
            <a:ext cx="109728" cy="10972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22592" y="3922776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E8F0"/>
                </a:solidFill>
                <a:latin typeface="Arial"/>
              </a:rPr>
              <a:t>EU Child Sexual Abuse Regulation — Council position reached Nov 2025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European Commission / Council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0" y="4846320"/>
            <a:ext cx="109728" cy="10972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22592" y="4791456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E8F0"/>
                </a:solidFill>
                <a:latin typeface="Arial"/>
              </a:rPr>
              <a:t>720,000+ suicide deaths/yr; 3rd leading cause of death ages 15–29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WHO fact sheet, 2025 (2021 data)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66560" y="5715000"/>
            <a:ext cx="109728" cy="10972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22592" y="5660136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E8F0"/>
                </a:solidFill>
                <a:latin typeface="Arial"/>
              </a:rPr>
              <a:t>46% of US teens have experienced cyberbullying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Pew Research Center, 2022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Arial"/>
              </a:rPr>
              <a:t>Elaine  </a:t>
            </a:r>
            <a:r>
              <a:rPr sz="1400" b="0">
                <a:solidFill>
                  <a:srgbClr val="94A3B8"/>
                </a:solidFill>
                <a:latin typeface="Arial"/>
              </a:rPr>
              <a:t>· Research landscape &amp;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A trending research topic — with public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4A3B8"/>
                </a:solidFill>
                <a:latin typeface="Arial"/>
              </a:rPr>
              <a:t>Detection of grooming, cyberbullying and suicidal ideation is an active NLP area with established datasets.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Arial"/>
              </a:rPr>
              <a:t>SELECTED LITERATURE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5760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E2E8F0"/>
                </a:solidFill>
                <a:latin typeface="Arial"/>
              </a:rPr>
              <a:t>PAN-2012 Sexual Predator Identification (overview)  </a:t>
            </a:r>
            <a:r>
              <a:rPr sz="1000" b="0">
                <a:solidFill>
                  <a:srgbClr val="94A3B8"/>
                </a:solidFill>
                <a:latin typeface="Arial"/>
              </a:rPr>
              <a:t>(Inches &amp; Crestani, CLEF/PAN 2012)</a:t>
            </a:r>
          </a:p>
          <a:p>
            <a:pPr algn="l">
              <a:lnSpc>
                <a:spcPct val="9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Defined the canonical grooming-detection benchmark (predator ID + line-level).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5760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E2E8F0"/>
                </a:solidFill>
                <a:latin typeface="Arial"/>
              </a:rPr>
              <a:t>Detecting sexual predators in chats  </a:t>
            </a:r>
            <a:r>
              <a:rPr sz="1000" b="0">
                <a:solidFill>
                  <a:srgbClr val="94A3B8"/>
                </a:solidFill>
                <a:latin typeface="Arial"/>
              </a:rPr>
              <a:t>(Ebrahimi et al., Nat. Lang. Eng. 2016)</a:t>
            </a:r>
          </a:p>
          <a:p>
            <a:pPr algn="l">
              <a:lnSpc>
                <a:spcPct val="9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Behavioral + content features with imbalanced learning on PAN-12.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5760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E2E8F0"/>
                </a:solidFill>
                <a:latin typeface="Arial"/>
              </a:rPr>
              <a:t>Interdisciplinary review of cybergrooming research  </a:t>
            </a:r>
            <a:r>
              <a:rPr sz="1000" b="0">
                <a:solidFill>
                  <a:srgbClr val="94A3B8"/>
                </a:solidFill>
                <a:latin typeface="Arial"/>
              </a:rPr>
              <a:t>(An, Silva, Zhang et al., arXiv 2025)</a:t>
            </a:r>
          </a:p>
          <a:p>
            <a:pPr algn="l">
              <a:lnSpc>
                <a:spcPct val="9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Recent PRISMA survey across social + computational science.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40480"/>
            <a:ext cx="5760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E2E8F0"/>
                </a:solidFill>
                <a:latin typeface="Arial"/>
              </a:rPr>
              <a:t>Early detection of predators via turn-level optimization  </a:t>
            </a:r>
            <a:r>
              <a:rPr sz="1000" b="0">
                <a:solidFill>
                  <a:srgbClr val="94A3B8"/>
                </a:solidFill>
                <a:latin typeface="Arial"/>
              </a:rPr>
              <a:t>(arXiv 2025)</a:t>
            </a:r>
          </a:p>
          <a:p>
            <a:pPr algn="l">
              <a:lnSpc>
                <a:spcPct val="9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Reframes grooming detection as early, turn-level detection.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389120"/>
            <a:ext cx="5760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E2E8F0"/>
                </a:solidFill>
                <a:latin typeface="Arial"/>
              </a:rPr>
              <a:t>Using Machine Learning to Detect Cyberbullying  </a:t>
            </a:r>
            <a:r>
              <a:rPr sz="1000" b="0">
                <a:solidFill>
                  <a:srgbClr val="94A3B8"/>
                </a:solidFill>
                <a:latin typeface="Arial"/>
              </a:rPr>
              <a:t>(Reynolds et al., IEEE ICMLA 2011)</a:t>
            </a:r>
          </a:p>
          <a:p>
            <a:pPr algn="l">
              <a:lnSpc>
                <a:spcPct val="9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Foundational cyberbullying paper; Formspring data via MTurk labels.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37759"/>
            <a:ext cx="5760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E2E8F0"/>
                </a:solidFill>
                <a:latin typeface="Arial"/>
              </a:rPr>
              <a:t>Cyberbullying detection: datasets &amp; approaches (survey)  </a:t>
            </a:r>
            <a:r>
              <a:rPr sz="1000" b="0">
                <a:solidFill>
                  <a:srgbClr val="94A3B8"/>
                </a:solidFill>
                <a:latin typeface="Arial"/>
              </a:rPr>
              <a:t>(arXiv 2024)</a:t>
            </a:r>
          </a:p>
          <a:p>
            <a:pPr algn="l">
              <a:lnSpc>
                <a:spcPct val="9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Recent survey of cyberbullying datasets and ML/DL methods.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86399"/>
            <a:ext cx="5760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E2E8F0"/>
                </a:solidFill>
                <a:latin typeface="Arial"/>
              </a:rPr>
              <a:t>Automated Hate Speech Detection &amp; Offensive Language  </a:t>
            </a:r>
            <a:r>
              <a:rPr sz="1000" b="0">
                <a:solidFill>
                  <a:srgbClr val="94A3B8"/>
                </a:solidFill>
                <a:latin typeface="Arial"/>
              </a:rPr>
              <a:t>(Davidson et al., ICWSM 2017)</a:t>
            </a:r>
          </a:p>
          <a:p>
            <a:pPr algn="l">
              <a:lnSpc>
                <a:spcPct val="9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~25k-tweet hate/offensive/neither dataset; separability problem.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035039"/>
            <a:ext cx="5760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E2E8F0"/>
                </a:solidFill>
                <a:latin typeface="Arial"/>
              </a:rPr>
              <a:t>Crowdsourcing Twitter Abusive Behavior  </a:t>
            </a:r>
            <a:r>
              <a:rPr sz="1000" b="0">
                <a:solidFill>
                  <a:srgbClr val="94A3B8"/>
                </a:solidFill>
                <a:latin typeface="Arial"/>
              </a:rPr>
              <a:t>(Founta et al., ICWSM 2018)</a:t>
            </a:r>
          </a:p>
          <a:p>
            <a:pPr algn="l">
              <a:lnSpc>
                <a:spcPct val="9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~100k-tweet abusive-behavior dataset (hateful/abusive/spam/normal).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830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F4444"/>
                </a:solidFill>
                <a:latin typeface="Arial"/>
              </a:rPr>
              <a:t>BENCHMARK DATASETS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194560"/>
            <a:ext cx="512064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9984" y="2249424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150" b="1">
                <a:solidFill>
                  <a:srgbClr val="E2E8F0"/>
                </a:solidFill>
                <a:latin typeface="Arial"/>
              </a:rPr>
              <a:t>PAN-2012 Sexual Predator ID  </a:t>
            </a:r>
            <a:r>
              <a:rPr sz="950" b="0">
                <a:solidFill>
                  <a:srgbClr val="94A3B8"/>
                </a:solidFill>
                <a:latin typeface="Arial"/>
              </a:rPr>
              <a:t>PAN@CLEF 2012</a:t>
            </a:r>
          </a:p>
          <a:p>
            <a:pPr algn="l">
              <a:lnSpc>
                <a:spcPct val="92000"/>
              </a:lnSpc>
            </a:pPr>
            <a:r>
              <a:rPr sz="950" b="0">
                <a:solidFill>
                  <a:srgbClr val="94A3B8"/>
                </a:solidFill>
                <a:latin typeface="Arial"/>
              </a:rPr>
              <a:t>tens of thousands of chats (&lt;4% predatory)  ·  grooming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852928"/>
            <a:ext cx="512064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9984" y="290779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150" b="1">
                <a:solidFill>
                  <a:srgbClr val="E2E8F0"/>
                </a:solidFill>
                <a:latin typeface="Arial"/>
              </a:rPr>
              <a:t>Formspring.me cyberbullying  </a:t>
            </a:r>
            <a:r>
              <a:rPr sz="950" b="0">
                <a:solidFill>
                  <a:srgbClr val="94A3B8"/>
                </a:solidFill>
                <a:latin typeface="Arial"/>
              </a:rPr>
              <a:t>Reynolds 2011</a:t>
            </a:r>
          </a:p>
          <a:p>
            <a:pPr algn="l">
              <a:lnSpc>
                <a:spcPct val="92000"/>
              </a:lnSpc>
            </a:pPr>
            <a:r>
              <a:rPr sz="950" b="0">
                <a:solidFill>
                  <a:srgbClr val="94A3B8"/>
                </a:solidFill>
                <a:latin typeface="Arial"/>
              </a:rPr>
              <a:t>13,158 posts · 892 bullying  ·  bullying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511296"/>
            <a:ext cx="512064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9984" y="35661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150" b="1">
                <a:solidFill>
                  <a:srgbClr val="E2E8F0"/>
                </a:solidFill>
                <a:latin typeface="Arial"/>
              </a:rPr>
              <a:t>Jigsaw / Wikipedia Toxic Comments  </a:t>
            </a:r>
            <a:r>
              <a:rPr sz="950" b="0">
                <a:solidFill>
                  <a:srgbClr val="94A3B8"/>
                </a:solidFill>
                <a:latin typeface="Arial"/>
              </a:rPr>
              <a:t>Jigsaw+Google 2018</a:t>
            </a:r>
          </a:p>
          <a:p>
            <a:pPr algn="l">
              <a:lnSpc>
                <a:spcPct val="92000"/>
              </a:lnSpc>
            </a:pPr>
            <a:r>
              <a:rPr sz="950" b="0">
                <a:solidFill>
                  <a:srgbClr val="94A3B8"/>
                </a:solidFill>
                <a:latin typeface="Arial"/>
              </a:rPr>
              <a:t>~159,571 comments · 6 toxicity labels  ·  bullying / toxicity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69663"/>
            <a:ext cx="512064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4" y="4224527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150" b="1">
                <a:solidFill>
                  <a:srgbClr val="E2E8F0"/>
                </a:solidFill>
                <a:latin typeface="Arial"/>
              </a:rPr>
              <a:t>OLID (OffensEval, SemEval-2019 T6)  </a:t>
            </a:r>
            <a:r>
              <a:rPr sz="950" b="0">
                <a:solidFill>
                  <a:srgbClr val="94A3B8"/>
                </a:solidFill>
                <a:latin typeface="Arial"/>
              </a:rPr>
              <a:t>Zampieri 2019</a:t>
            </a:r>
          </a:p>
          <a:p>
            <a:pPr algn="l">
              <a:lnSpc>
                <a:spcPct val="92000"/>
              </a:lnSpc>
            </a:pPr>
            <a:r>
              <a:rPr sz="950" b="0">
                <a:solidFill>
                  <a:srgbClr val="94A3B8"/>
                </a:solidFill>
                <a:latin typeface="Arial"/>
              </a:rPr>
              <a:t>~14,100 tweets · 3-level  ·  bullying / abusive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828031"/>
            <a:ext cx="512064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9984" y="4882895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150" b="1">
                <a:solidFill>
                  <a:srgbClr val="E2E8F0"/>
                </a:solidFill>
                <a:latin typeface="Arial"/>
              </a:rPr>
              <a:t>Davidson Hate Speech &amp; Offensive  </a:t>
            </a:r>
            <a:r>
              <a:rPr sz="950" b="0">
                <a:solidFill>
                  <a:srgbClr val="94A3B8"/>
                </a:solidFill>
                <a:latin typeface="Arial"/>
              </a:rPr>
              <a:t>Davidson 2017</a:t>
            </a:r>
          </a:p>
          <a:p>
            <a:pPr algn="l">
              <a:lnSpc>
                <a:spcPct val="92000"/>
              </a:lnSpc>
            </a:pPr>
            <a:r>
              <a:rPr sz="950" b="0">
                <a:solidFill>
                  <a:srgbClr val="94A3B8"/>
                </a:solidFill>
                <a:latin typeface="Arial"/>
              </a:rPr>
              <a:t>~24,800 tweets  ·  bullying / abusive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5486399"/>
            <a:ext cx="512064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9984" y="5541263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150" b="1">
                <a:solidFill>
                  <a:srgbClr val="E2E8F0"/>
                </a:solidFill>
                <a:latin typeface="Arial"/>
              </a:rPr>
              <a:t>CLPsych-2016 (ReachOut forum)  </a:t>
            </a:r>
            <a:r>
              <a:rPr sz="950" b="0">
                <a:solidFill>
                  <a:srgbClr val="94A3B8"/>
                </a:solidFill>
                <a:latin typeface="Arial"/>
              </a:rPr>
              <a:t>Milne 2016</a:t>
            </a:r>
          </a:p>
          <a:p>
            <a:pPr algn="l">
              <a:lnSpc>
                <a:spcPct val="92000"/>
              </a:lnSpc>
            </a:pPr>
            <a:r>
              <a:rPr sz="950" b="0">
                <a:solidFill>
                  <a:srgbClr val="94A3B8"/>
                </a:solidFill>
                <a:latin typeface="Arial"/>
              </a:rPr>
              <a:t>~65k posts · triage green→crisis  ·  suicidal / distress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6144767"/>
            <a:ext cx="512064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9984" y="6199631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1150" b="1">
                <a:solidFill>
                  <a:srgbClr val="E2E8F0"/>
                </a:solidFill>
                <a:latin typeface="Arial"/>
              </a:rPr>
              <a:t>Reddit SuicideWatch  </a:t>
            </a:r>
            <a:r>
              <a:rPr sz="950" b="0">
                <a:solidFill>
                  <a:srgbClr val="94A3B8"/>
                </a:solidFill>
                <a:latin typeface="Arial"/>
              </a:rPr>
              <a:t>Kaggle 2008–21</a:t>
            </a:r>
          </a:p>
          <a:p>
            <a:pPr algn="l">
              <a:lnSpc>
                <a:spcPct val="92000"/>
              </a:lnSpc>
            </a:pPr>
            <a:r>
              <a:rPr sz="950" b="0">
                <a:solidFill>
                  <a:srgbClr val="94A3B8"/>
                </a:solidFill>
                <a:latin typeface="Arial"/>
              </a:rPr>
              <a:t>232,074 posts (balanced)  ·  suicidal / self-harm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Arial"/>
              </a:rPr>
              <a:t>Grace  </a:t>
            </a:r>
            <a:r>
              <a:rPr sz="1400" b="0">
                <a:solidFill>
                  <a:srgbClr val="94A3B8"/>
                </a:solidFill>
                <a:latin typeface="Arial"/>
              </a:rPr>
              <a:t>· How risks are defined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Six categories, anchored to UN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4A3B8"/>
                </a:solidFill>
                <a:latin typeface="Arial"/>
              </a:rPr>
              <a:t>Each category maps to a Convention on the Rights of the Child article + the EU AI 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4A3B8"/>
                </a:solidFill>
                <a:latin typeface="Arial"/>
              </a:rPr>
              <a:t>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4708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4A3B8"/>
                </a:solidFill>
                <a:latin typeface="Arial"/>
              </a:rPr>
              <a:t>WHAT IT CAPTURES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847088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4A3B8"/>
                </a:solidFill>
                <a:latin typeface="Arial"/>
              </a:rPr>
              <a:t>LEGAL ANCHOR (verbatim, not LLM-recalled)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76272"/>
            <a:ext cx="11201400" cy="512064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313432"/>
            <a:ext cx="237744" cy="237744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76856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E8F0"/>
                </a:solidFill>
                <a:latin typeface="Arial"/>
              </a:rPr>
              <a:t>grooming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7685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2E8F0"/>
                </a:solidFill>
                <a:latin typeface="Arial"/>
              </a:rPr>
              <a:t>Grooming / sexual solicitation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276856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CRC Art. 34 (sexual exploitation &amp; abuse), Art. 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43200"/>
            <a:ext cx="11201400" cy="512064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237744" cy="237744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843784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E8F0"/>
                </a:solidFill>
                <a:latin typeface="Arial"/>
              </a:rPr>
              <a:t>bullying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84378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2E8F0"/>
                </a:solidFill>
                <a:latin typeface="Arial"/>
              </a:rPr>
              <a:t>Bullying / peer aggression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843784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CRC Art. 19 (protection from violence), Art.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10128"/>
            <a:ext cx="11201400" cy="512064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447288"/>
            <a:ext cx="237744" cy="23774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410712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E8F0"/>
                </a:solidFill>
                <a:latin typeface="Arial"/>
              </a:rPr>
              <a:t>suicidal ideation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41071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2E8F0"/>
                </a:solidFill>
                <a:latin typeface="Arial"/>
              </a:rPr>
              <a:t>Suicidal ideation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41071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CRC Art. 6 (life, survival), Art. 3 (best interests)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877056"/>
            <a:ext cx="11201400" cy="512064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4014216"/>
            <a:ext cx="237744" cy="237744"/>
          </a:xfrm>
          <a:prstGeom prst="round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7764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E8F0"/>
                </a:solidFill>
                <a:latin typeface="Arial"/>
              </a:rPr>
              <a:t>self harm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9776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2E8F0"/>
                </a:solidFill>
                <a:latin typeface="Arial"/>
              </a:rPr>
              <a:t>Self-harm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9776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CRC Art. 6, Art. 24 (health)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443984"/>
            <a:ext cx="11201400" cy="512064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581144"/>
            <a:ext cx="237744" cy="237744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54456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E8F0"/>
                </a:solidFill>
                <a:latin typeface="Arial"/>
              </a:rPr>
              <a:t>pii exposure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54456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2E8F0"/>
                </a:solidFill>
                <a:latin typeface="Arial"/>
              </a:rPr>
              <a:t>PII exposure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54456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CRC Art. 16 (privacy)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010912"/>
            <a:ext cx="11201400" cy="512064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" y="5148072"/>
            <a:ext cx="237744" cy="237744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111496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2E8F0"/>
                </a:solidFill>
                <a:latin typeface="Arial"/>
              </a:rPr>
              <a:t>distress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11149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2E8F0"/>
                </a:solidFill>
                <a:latin typeface="Arial"/>
              </a:rPr>
              <a:t>Emotional distress / help-seeking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111496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CRC Art. 3, Art. 12 (right to be heard)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623560"/>
            <a:ext cx="11201400" cy="841248"/>
          </a:xfrm>
          <a:prstGeom prst="roundRect">
            <a:avLst/>
          </a:prstGeom>
          <a:solidFill>
            <a:srgbClr val="121C2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7150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Arial"/>
              </a:rPr>
              <a:t>Overall risk   </a:t>
            </a:r>
            <a:r>
              <a:rPr sz="1200" b="0">
                <a:solidFill>
                  <a:srgbClr val="E2E8F0"/>
                </a:solidFill>
                <a:latin typeface="Arial"/>
              </a:rPr>
              <a:t>each of 3 models scores every category 0–1;  </a:t>
            </a:r>
            <a:r>
              <a:rPr sz="1200" b="1">
                <a:solidFill>
                  <a:srgbClr val="FFFFFF"/>
                </a:solidFill>
                <a:latin typeface="Arial"/>
              </a:rPr>
              <a:t>by_measure</a:t>
            </a:r>
            <a:r>
              <a:rPr sz="1200" b="0">
                <a:solidFill>
                  <a:srgbClr val="E2E8F0"/>
                </a:solidFill>
                <a:latin typeface="Arial"/>
              </a:rPr>
              <a:t> = worst score across the panel,  </a:t>
            </a:r>
            <a:r>
              <a:rPr sz="1200" b="1">
                <a:solidFill>
                  <a:srgbClr val="FFFFFF"/>
                </a:solidFill>
                <a:latin typeface="Arial"/>
              </a:rPr>
              <a:t>aggregate</a:t>
            </a:r>
            <a:r>
              <a:rPr sz="1200" b="0">
                <a:solidFill>
                  <a:srgbClr val="E2E8F0"/>
                </a:solidFill>
                <a:latin typeface="Arial"/>
              </a:rPr>
              <a:t> = mean of model overalls.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Arial"/>
              </a:rPr>
              <a:t>ALARM when aggregate ≥ threshold (0.6) → escalate to a human + append to the hash chain.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Arial"/>
              </a:rPr>
              <a:t>Wilson  </a:t>
            </a:r>
            <a:r>
              <a:rPr sz="1400" b="0">
                <a:solidFill>
                  <a:srgbClr val="94A3B8"/>
                </a:solidFill>
                <a:latin typeface="Arial"/>
              </a:rPr>
              <a:t>· System prompt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Three system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4A3B8"/>
                </a:solidFill>
                <a:latin typeface="Arial"/>
              </a:rPr>
              <a:t>One governance prompt + one scoring prompt + the structured-output contract that makes it labelable.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365760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365760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1 · The gate  (AGENTS.md)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2461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E2E8F0"/>
                </a:solidFill>
                <a:latin typeface="Arial"/>
              </a:rPr>
              <a:t>Injected into every coding-agent call.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E2E8F0"/>
                </a:solidFill>
                <a:latin typeface="Arial"/>
              </a:rPr>
              <a:t>Defines WHEN the gate fires (privacy / security /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E2E8F0"/>
                </a:solidFill>
                <a:latin typeface="Arial"/>
              </a:rPr>
              <a:t>fairness / child-safety) and WHAT to do: present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E2E8F0"/>
                </a:solidFill>
                <a:latin typeface="Arial"/>
              </a:rPr>
              <a:t>≥2 options + tradeoffs, cite CRC/AI Act verbatim,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E2E8F0"/>
                </a:solidFill>
                <a:latin typeface="Arial"/>
              </a:rPr>
              <a:t>WAIT for the human, then log_decision().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011680"/>
            <a:ext cx="365760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011680"/>
            <a:ext cx="3657600" cy="1097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24028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 · The risk scorer  (score_one)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34640"/>
            <a:ext cx="32461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94A3B8"/>
                </a:solidFill>
                <a:latin typeface="Arial"/>
              </a:rPr>
              <a:t>“You are a strict AI-risk auditor. Score the given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E2E8F0"/>
                </a:solidFill>
                <a:latin typeface="Arial"/>
              </a:rPr>
              <a:t>{kind} for risk on each measure 0.0–1.0.”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E2E8F0"/>
                </a:solidFill>
                <a:latin typeface="Arial"/>
              </a:rPr>
              <a:t>Parameterised by kind + measures — the SAME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E2E8F0"/>
                </a:solidFill>
                <a:latin typeface="Arial"/>
              </a:rPr>
              <a:t>template scores code and conversations.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E2E8F0"/>
                </a:solidFill>
                <a:latin typeface="Arial"/>
              </a:rPr>
              <a:t>Run independently by all 3 models.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011680"/>
            <a:ext cx="365760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2011680"/>
            <a:ext cx="365760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24028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3 · The output contract  (JSON)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834640"/>
            <a:ext cx="32461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E2E8F0"/>
                </a:solidFill>
                <a:latin typeface="Arial"/>
              </a:rPr>
              <a:t>Reply with ONLY JSON: {scores:{&lt;measure&gt;:float},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E2E8F0"/>
                </a:solidFill>
                <a:latin typeface="Arial"/>
              </a:rPr>
              <a:t>overall:float, reason:‘…’}.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E2E8F0"/>
                </a:solidFill>
                <a:latin typeface="Arial"/>
              </a:rPr>
              <a:t>Forces a machine-labelable result → per-message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E2E8F0"/>
                </a:solidFill>
                <a:latin typeface="Arial"/>
              </a:rPr>
              <a:t>labels + the distribution visualization.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E2E8F0"/>
                </a:solidFill>
                <a:latin typeface="Arial"/>
              </a:rPr>
              <a:t>Floor 0.15 → ‘none’ (no salient risk).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Arial"/>
              </a:rPr>
              <a:t>Child-safety adds no new prompt — it is a domain in prompt 1 and a measure-set in prompt 2.  That is what makes it a use case, not a separate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Arial"/>
              </a:rPr>
              <a:t>Ethan  </a:t>
            </a:r>
            <a:r>
              <a:rPr sz="1400" b="0">
                <a:solidFill>
                  <a:srgbClr val="94A3B8"/>
                </a:solidFill>
                <a:latin typeface="Arial"/>
              </a:rPr>
              <a:t>· System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Live demo — per-message labels + risk distribution</a:t>
            </a:r>
          </a:p>
        </p:txBody>
      </p:sp>
      <p:pic>
        <p:nvPicPr>
          <p:cNvPr id="5" name="Picture 4" descr="demo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7680960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783080"/>
            <a:ext cx="32461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58200" y="1783080"/>
            <a:ext cx="91440" cy="105156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892807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Per-message chip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2402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>
                <a:solidFill>
                  <a:srgbClr val="94A3B8"/>
                </a:solidFill>
                <a:latin typeface="Arial"/>
              </a:rPr>
              <a:t>every bubble is labeled with its dominant risk category +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953512"/>
            <a:ext cx="32461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58200" y="2953512"/>
            <a:ext cx="91440" cy="10515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30632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3-model panel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410712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>
                <a:solidFill>
                  <a:srgbClr val="94A3B8"/>
                </a:solidFill>
                <a:latin typeface="Arial"/>
              </a:rPr>
              <a:t>DeepSeek / OpenAI / Gemini score independently → aggregate 0.71 → HIGH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123944"/>
            <a:ext cx="32461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58200" y="4123944"/>
            <a:ext cx="91440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42336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Risk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581144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>
                <a:solidFill>
                  <a:srgbClr val="94A3B8"/>
                </a:solidFill>
                <a:latin typeface="Arial"/>
              </a:rPr>
              <a:t>stacked share bar + per-category severity &amp; message counts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5294376"/>
            <a:ext cx="32461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58200" y="5294376"/>
            <a:ext cx="91440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5404104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Escalation +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751576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>
                <a:solidFill>
                  <a:srgbClr val="94A3B8"/>
                </a:solidFill>
                <a:latin typeface="Arial"/>
              </a:rPr>
              <a:t>alarm → escalate to human → SHA-256 record appended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0"/>
            <a:ext cx="11155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Child Safety chatbot</a:t>
            </a:r>
          </a:p>
          <a:p>
            <a:pPr algn="l">
              <a:lnSpc>
                <a:spcPct val="110000"/>
              </a:lnSpc>
            </a:pPr>
            <a:r>
              <a:rPr sz="2800" b="1">
                <a:solidFill>
                  <a:srgbClr val="2563EB"/>
                </a:solidFill>
                <a:latin typeface="Arial"/>
              </a:rPr>
              <a:t>is a use case of the compliance-auditor coding agent.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078224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8678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E2E8F0"/>
                </a:solidFill>
                <a:latin typeface="Arial"/>
              </a:rPr>
              <a:t>Same spine: panel of judges → threshold → human-in-the-loop → tamper-evident hash chain.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626864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3542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E2E8F0"/>
                </a:solidFill>
                <a:latin typeface="Arial"/>
              </a:rPr>
              <a:t>New domain: 6 risk categories, anchored to UN CRC + EU AI Act, scored by the same prompt.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75503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08406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E2E8F0"/>
                </a:solidFill>
                <a:latin typeface="Arial"/>
              </a:rPr>
              <a:t>Result: a labeled, visualized, non-repudiable record of every escalation — reusable, not bespoke.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